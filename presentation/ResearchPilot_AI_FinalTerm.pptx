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fad3ae0-e5f9-dfc9-7578-2c0b106a2c15}">
          <p14:sldIdLst>
            <p14:sldId id="256"/>
          </p14:sldIdLst>
        </p14:section>
        <p14:section name="Overview" id="{dd51a26f-89fd-055e-d3a8-6c32b4f8165f}">
          <p14:sldIdLst>
            <p14:sldId id="257"/>
          </p14:sldIdLst>
        </p14:section>
        <p14:section name="Design" id="{53c5ac1a-1139-a6c2-fa31-76fa029641e4}">
          <p14:sldIdLst>
            <p14:sldId id="258"/>
            <p14:sldId id="259"/>
            <p14:sldId id="260"/>
          </p14:sldIdLst>
        </p14:section>
        <p14:section name="Quality" id="{e1154168-f7f6-61aa-aba7-79e5c8d1edf4}">
          <p14:sldIdLst>
            <p14:sldId id="261"/>
            <p14:sldId id="262"/>
          </p14:sldIdLst>
        </p14:section>
        <p14:section name="Build" id="{d008ffab-45fe-80f8-44f3-b2ab4827e899}">
          <p14:sldIdLst>
            <p14:sldId id="263"/>
            <p14:sldId id="264"/>
          </p14:sldIdLst>
        </p14:section>
        <p14:section name="Wrap-up" id="{42315ad5-646f-6cf1-8a17-7b0f8b98af0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chatbot prompt can hallucinate sources. We want every claim verified and cited.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LangGraph StateGraph with shared typed state, not one prompt pretending to be several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scoring is deliberately rule-based so it is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rule-based, not LLM-routed, so every score can be audited. A .edu or .gov domain is not blindly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metric is computed from the run itself. Retrieval hit rate is reported null because it needs ground truth we do not invent.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automated tests, all passing. The citation-integrity test proves no citation is created without a retrieved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Swapping providers is only an environment variable change; no code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consumes the SSE stream so the audience watches each agent finish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offline mode proves the pipeline, not live-model quality. Auth and PDF export were scoped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A1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69748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ResearchPilot AI  |  Final-Term Project  |  Qaim Ali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ResearchPilot AI</a:t>
            </a:r>
            <a:endParaRPr lang="en-US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69748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An Agentic AI Research System for Evidence-Based Answers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Qaim Ali  |  BS Computer Science, Abasyn University Peshawar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Final-Term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Problem and Objective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Chatbots answer fluently but can invent facts and citations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Objective: a research system whose answers are checked against retrieved evidence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Multiple specialised agents, each with one job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Quality gate can send the system back for more research before answering</a:t>
            </a:r>
            <a:endParaRPr lang="en-US" sz="1500" dirty="0"/>
          </a:p>
        </p:txBody>
      </p:sp>
      <p:sp>
        <p:nvSpPr>
          <p:cNvPr id="5" name="nodes card"/>
          <p:cNvSpPr/>
          <p:nvPr/>
        </p:nvSpPr>
        <p:spPr>
          <a:xfrm>
            <a:off x="5029200" y="1188720"/>
            <a:ext cx="1737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odes value"/>
          <p:cNvSpPr txBox="1"/>
          <p:nvPr/>
        </p:nvSpPr>
        <p:spPr>
          <a:xfrm>
            <a:off x="5166360" y="12801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</a:t>
            </a:r>
            <a:endParaRPr lang="en-US" sz="3000" dirty="0"/>
          </a:p>
        </p:txBody>
      </p:sp>
      <p:sp>
        <p:nvSpPr>
          <p:cNvPr id="7" name="nodes label"/>
          <p:cNvSpPr txBox="1"/>
          <p:nvPr/>
        </p:nvSpPr>
        <p:spPr>
          <a:xfrm>
            <a:off x="5166360" y="1949501"/>
            <a:ext cx="146304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LangGraph nodes</a:t>
            </a:r>
            <a:endParaRPr lang="en-US" sz="1200" dirty="0"/>
          </a:p>
        </p:txBody>
      </p:sp>
      <p:sp>
        <p:nvSpPr>
          <p:cNvPr id="8" name="loops card"/>
          <p:cNvSpPr/>
          <p:nvPr/>
        </p:nvSpPr>
        <p:spPr>
          <a:xfrm>
            <a:off x="6949440" y="1188720"/>
            <a:ext cx="1737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oops value"/>
          <p:cNvSpPr txBox="1"/>
          <p:nvPr/>
        </p:nvSpPr>
        <p:spPr>
          <a:xfrm>
            <a:off x="7086600" y="12801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loops label"/>
          <p:cNvSpPr txBox="1"/>
          <p:nvPr/>
        </p:nvSpPr>
        <p:spPr>
          <a:xfrm>
            <a:off x="7086600" y="1949501"/>
            <a:ext cx="146304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conditional loops</a:t>
            </a:r>
            <a:endParaRPr lang="en-US" sz="1200" dirty="0"/>
          </a:p>
        </p:txBody>
      </p:sp>
      <p:sp>
        <p:nvSpPr>
          <p:cNvPr id="11" name="tests card"/>
          <p:cNvSpPr/>
          <p:nvPr/>
        </p:nvSpPr>
        <p:spPr>
          <a:xfrm>
            <a:off x="5029200" y="2834640"/>
            <a:ext cx="1737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sts value"/>
          <p:cNvSpPr txBox="1"/>
          <p:nvPr/>
        </p:nvSpPr>
        <p:spPr>
          <a:xfrm>
            <a:off x="5166360" y="2926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</a:t>
            </a:r>
            <a:endParaRPr lang="en-US" sz="3000" dirty="0"/>
          </a:p>
        </p:txBody>
      </p:sp>
      <p:sp>
        <p:nvSpPr>
          <p:cNvPr id="13" name="tests label"/>
          <p:cNvSpPr txBox="1"/>
          <p:nvPr/>
        </p:nvSpPr>
        <p:spPr>
          <a:xfrm>
            <a:off x="5166360" y="3595421"/>
            <a:ext cx="146304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automated tests passing</a:t>
            </a:r>
            <a:endParaRPr lang="en-US" sz="1200" dirty="0"/>
          </a:p>
        </p:txBody>
      </p:sp>
      <p:sp>
        <p:nvSpPr>
          <p:cNvPr id="14" name="sse card"/>
          <p:cNvSpPr/>
          <p:nvPr/>
        </p:nvSpPr>
        <p:spPr>
          <a:xfrm>
            <a:off x="6949440" y="2834640"/>
            <a:ext cx="1737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se value"/>
          <p:cNvSpPr txBox="1"/>
          <p:nvPr/>
        </p:nvSpPr>
        <p:spPr>
          <a:xfrm>
            <a:off x="7086600" y="2926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SSE</a:t>
            </a:r>
            <a:endParaRPr lang="en-US" sz="3000" dirty="0"/>
          </a:p>
        </p:txBody>
      </p:sp>
      <p:sp>
        <p:nvSpPr>
          <p:cNvPr id="16" name="sse label"/>
          <p:cNvSpPr txBox="1"/>
          <p:nvPr/>
        </p:nvSpPr>
        <p:spPr>
          <a:xfrm>
            <a:off x="7086600" y="3595421"/>
            <a:ext cx="146304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 agent streaming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Multi-Agent Architecture</a:t>
            </a:r>
            <a:endParaRPr lang="en-US" sz="2600" dirty="0"/>
          </a:p>
        </p:txBody>
      </p:sp>
      <p:sp>
        <p:nvSpPr>
          <p:cNvPr id="4" name="node Research Planner"/>
          <p:cNvSpPr/>
          <p:nvPr/>
        </p:nvSpPr>
        <p:spPr>
          <a:xfrm>
            <a:off x="457200" y="118872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Research Planner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18872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node Query Generator"/>
          <p:cNvSpPr/>
          <p:nvPr/>
        </p:nvSpPr>
        <p:spPr>
          <a:xfrm>
            <a:off x="2148840" y="118872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8840" y="118872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Query Generator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18872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node Search + Fetch"/>
          <p:cNvSpPr/>
          <p:nvPr/>
        </p:nvSpPr>
        <p:spPr>
          <a:xfrm>
            <a:off x="3840480" y="118872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0" y="118872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Search + Fetch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118872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node Source Quality"/>
          <p:cNvSpPr/>
          <p:nvPr/>
        </p:nvSpPr>
        <p:spPr>
          <a:xfrm>
            <a:off x="5532120" y="118872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32120" y="118872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Source Quality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118872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node Evidence Extraction"/>
          <p:cNvSpPr/>
          <p:nvPr/>
        </p:nvSpPr>
        <p:spPr>
          <a:xfrm>
            <a:off x="7223760" y="118872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23760" y="118872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Evidence Extraction</a:t>
            </a:r>
            <a:endParaRPr lang="en-US" sz="1200" dirty="0"/>
          </a:p>
        </p:txBody>
      </p:sp>
      <p:sp>
        <p:nvSpPr>
          <p:cNvPr id="18" name="node Source Comparison"/>
          <p:cNvSpPr/>
          <p:nvPr/>
        </p:nvSpPr>
        <p:spPr>
          <a:xfrm>
            <a:off x="457200" y="228600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22860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Source Comparison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228600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node Fact Checker"/>
          <p:cNvSpPr/>
          <p:nvPr/>
        </p:nvSpPr>
        <p:spPr>
          <a:xfrm>
            <a:off x="2148840" y="228600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48840" y="22860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Fact Checker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611880" y="228600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node Synthesizer"/>
          <p:cNvSpPr/>
          <p:nvPr/>
        </p:nvSpPr>
        <p:spPr>
          <a:xfrm>
            <a:off x="3840480" y="228600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40480" y="22860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Synthesizer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303520" y="228600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node Evaluator"/>
          <p:cNvSpPr/>
          <p:nvPr/>
        </p:nvSpPr>
        <p:spPr>
          <a:xfrm>
            <a:off x="5532120" y="228600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532120" y="22860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Evaluator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995160" y="228600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node Final Report"/>
          <p:cNvSpPr/>
          <p:nvPr/>
        </p:nvSpPr>
        <p:spPr>
          <a:xfrm>
            <a:off x="7223760" y="228600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23760" y="22860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Final Report</a:t>
            </a:r>
            <a:endParaRPr lang="en-US" sz="1200" dirty="0"/>
          </a:p>
        </p:txBody>
      </p:sp>
      <p:sp>
        <p:nvSpPr>
          <p:cNvPr id="32" name="l1 card"/>
          <p:cNvSpPr/>
          <p:nvPr/>
        </p:nvSpPr>
        <p:spPr>
          <a:xfrm>
            <a:off x="457200" y="352044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l1 value"/>
          <p:cNvSpPr txBox="1"/>
          <p:nvPr/>
        </p:nvSpPr>
        <p:spPr>
          <a:xfrm>
            <a:off x="594360" y="3611880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Loop 1: sufficiency</a:t>
            </a:r>
            <a:endParaRPr lang="en-US" sz="1500" dirty="0"/>
          </a:p>
        </p:txBody>
      </p:sp>
      <p:sp>
        <p:nvSpPr>
          <p:cNvPr id="34" name="l1 label"/>
          <p:cNvSpPr txBox="1"/>
          <p:nvPr/>
        </p:nvSpPr>
        <p:spPr>
          <a:xfrm>
            <a:off x="594360" y="4091026"/>
            <a:ext cx="37490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enough evidence and budget left? Generate follow-up queries and search again.</a:t>
            </a:r>
            <a:endParaRPr lang="en-US" sz="1200" dirty="0"/>
          </a:p>
        </p:txBody>
      </p:sp>
      <p:sp>
        <p:nvSpPr>
          <p:cNvPr id="35" name="l2 card"/>
          <p:cNvSpPr/>
          <p:nvPr/>
        </p:nvSpPr>
        <p:spPr>
          <a:xfrm>
            <a:off x="4663440" y="352044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l2 value"/>
          <p:cNvSpPr txBox="1"/>
          <p:nvPr/>
        </p:nvSpPr>
        <p:spPr>
          <a:xfrm>
            <a:off x="4800600" y="3611880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Loop 2: quality gate</a:t>
            </a:r>
            <a:endParaRPr lang="en-US" sz="1500" dirty="0"/>
          </a:p>
        </p:txBody>
      </p:sp>
      <p:sp>
        <p:nvSpPr>
          <p:cNvPr id="37" name="l2 label"/>
          <p:cNvSpPr txBox="1"/>
          <p:nvPr/>
        </p:nvSpPr>
        <p:spPr>
          <a:xfrm>
            <a:off x="4800600" y="4091026"/>
            <a:ext cx="37490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Citation completeness too low? Return for more research before the final report.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Agent Roles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45"/>
                          </a:solidFill>
                        </a:rPr>
                        <a:t>Planner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45"/>
                          </a:solidFill>
                        </a:rPr>
                        <a:t>Question into objectives, subquestions, search strategy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45"/>
                          </a:solidFill>
                        </a:rPr>
                        <a:t>Query Generator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45"/>
                          </a:solidFill>
                        </a:rPr>
                        <a:t>Subquestions into deduplicated search queries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45"/>
                          </a:solidFill>
                        </a:rPr>
                        <a:t>Source Quality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45"/>
                          </a:solidFill>
                        </a:rPr>
                        <a:t>Rule-based score: authority, relevance, recency, evidence quality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45"/>
                          </a:solidFill>
                        </a:rPr>
                        <a:t>Evidence Extractor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45"/>
                          </a:solidFill>
                        </a:rPr>
                        <a:t>Specific, question-targeted claims from each source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45"/>
                          </a:solidFill>
                        </a:rPr>
                        <a:t>Comparator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45"/>
                          </a:solidFill>
                        </a:rPr>
                        <a:t>Classifies agreement, contradiction or different scope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45"/>
                          </a:solidFill>
                        </a:rPr>
                        <a:t>Fact Checker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45"/>
                          </a:solidFill>
                        </a:rPr>
                        <a:t>Rejects unsupported or overstated claims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45"/>
                          </a:solidFill>
                        </a:rPr>
                        <a:t>Synthesizer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45"/>
                          </a:solidFill>
                        </a:rPr>
                        <a:t>Cited report built only from verified evidence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 Quality Scoring</a:t>
            </a:r>
            <a:endParaRPr lang="en-US" sz="2600" dirty="0"/>
          </a:p>
        </p:txBody>
      </p:sp>
      <p:sp>
        <p:nvSpPr>
          <p:cNvPr id="4" name="weight Authority"/>
          <p:cNvSpPr/>
          <p:nvPr/>
        </p:nvSpPr>
        <p:spPr>
          <a:xfrm>
            <a:off x="457200" y="1188720"/>
            <a:ext cx="19659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35%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Authority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317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prior by inferred source type</a:t>
            </a:r>
            <a:endParaRPr lang="en-US" sz="1200" dirty="0"/>
          </a:p>
        </p:txBody>
      </p:sp>
      <p:sp>
        <p:nvSpPr>
          <p:cNvPr id="8" name="weight Relevance"/>
          <p:cNvSpPr/>
          <p:nvPr/>
        </p:nvSpPr>
        <p:spPr>
          <a:xfrm>
            <a:off x="2542032" y="1188720"/>
            <a:ext cx="19659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79192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25%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679192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Relevance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679192" y="23317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match to the research question</a:t>
            </a:r>
            <a:endParaRPr lang="en-US" sz="1200" dirty="0"/>
          </a:p>
        </p:txBody>
      </p:sp>
      <p:sp>
        <p:nvSpPr>
          <p:cNvPr id="12" name="weight Recency"/>
          <p:cNvSpPr/>
          <p:nvPr/>
        </p:nvSpPr>
        <p:spPr>
          <a:xfrm>
            <a:off x="4626864" y="1188720"/>
            <a:ext cx="19659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64024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64024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Recency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764024" y="23317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newer sources score higher</a:t>
            </a:r>
            <a:endParaRPr lang="en-US" sz="1200" dirty="0"/>
          </a:p>
        </p:txBody>
      </p:sp>
      <p:sp>
        <p:nvSpPr>
          <p:cNvPr id="16" name="weight Evidence quality"/>
          <p:cNvSpPr/>
          <p:nvPr/>
        </p:nvSpPr>
        <p:spPr>
          <a:xfrm>
            <a:off x="6711696" y="1188720"/>
            <a:ext cx="19659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48856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20%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6848856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Evidence quality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48856" y="23317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proxy for substantive content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overall = 0.35 x authority + 0.25 x relevance + 0.20 x recency + 0.20 x evidence quality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Each score carries human-readable reasons, so the Sources tab shows why a source ranked where it did.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Built-In Evaluation</a:t>
            </a:r>
            <a:endParaRPr lang="en-US" sz="2600" dirty="0"/>
          </a:p>
        </p:txBody>
      </p:sp>
      <p:sp>
        <p:nvSpPr>
          <p:cNvPr id="4" name="metric0 card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etric0 value"/>
          <p:cNvSpPr txBox="1"/>
          <p:nvPr/>
        </p:nvSpPr>
        <p:spPr>
          <a:xfrm>
            <a:off x="594360" y="1280160"/>
            <a:ext cx="37490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Citation completeness</a:t>
            </a:r>
            <a:endParaRPr lang="en-US" sz="2000" dirty="0"/>
          </a:p>
        </p:txBody>
      </p:sp>
      <p:sp>
        <p:nvSpPr>
          <p:cNvPr id="6" name="metric0 label"/>
          <p:cNvSpPr txBox="1"/>
          <p:nvPr/>
        </p:nvSpPr>
        <p:spPr>
          <a:xfrm>
            <a:off x="594360" y="1925726"/>
            <a:ext cx="3749040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passed claims / total claims</a:t>
            </a:r>
            <a:endParaRPr lang="en-US" sz="1200" dirty="0"/>
          </a:p>
        </p:txBody>
      </p:sp>
      <p:sp>
        <p:nvSpPr>
          <p:cNvPr id="7" name="metric1 card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etric1 value"/>
          <p:cNvSpPr txBox="1"/>
          <p:nvPr/>
        </p:nvSpPr>
        <p:spPr>
          <a:xfrm>
            <a:off x="4800600" y="1280160"/>
            <a:ext cx="37490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Citation correctness</a:t>
            </a:r>
            <a:endParaRPr lang="en-US" sz="2000" dirty="0"/>
          </a:p>
        </p:txBody>
      </p:sp>
      <p:sp>
        <p:nvSpPr>
          <p:cNvPr id="9" name="metric1 label"/>
          <p:cNvSpPr txBox="1"/>
          <p:nvPr/>
        </p:nvSpPr>
        <p:spPr>
          <a:xfrm>
            <a:off x="4800600" y="1925726"/>
            <a:ext cx="3749040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citations pointing to actually retrieved sources</a:t>
            </a:r>
            <a:endParaRPr lang="en-US" sz="1200" dirty="0"/>
          </a:p>
        </p:txBody>
      </p:sp>
      <p:sp>
        <p:nvSpPr>
          <p:cNvPr id="10" name="metric2 card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etric2 value"/>
          <p:cNvSpPr txBox="1"/>
          <p:nvPr/>
        </p:nvSpPr>
        <p:spPr>
          <a:xfrm>
            <a:off x="594360" y="2880360"/>
            <a:ext cx="37490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Groundedness</a:t>
            </a:r>
            <a:endParaRPr lang="en-US" sz="2000" dirty="0"/>
          </a:p>
        </p:txBody>
      </p:sp>
      <p:sp>
        <p:nvSpPr>
          <p:cNvPr id="12" name="metric2 label"/>
          <p:cNvSpPr txBox="1"/>
          <p:nvPr/>
        </p:nvSpPr>
        <p:spPr>
          <a:xfrm>
            <a:off x="594360" y="3525926"/>
            <a:ext cx="3749040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claims backed by supporting evidence</a:t>
            </a:r>
            <a:endParaRPr lang="en-US" sz="1200" dirty="0"/>
          </a:p>
        </p:txBody>
      </p:sp>
      <p:sp>
        <p:nvSpPr>
          <p:cNvPr id="13" name="metric3 card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etric3 value"/>
          <p:cNvSpPr txBox="1"/>
          <p:nvPr/>
        </p:nvSpPr>
        <p:spPr>
          <a:xfrm>
            <a:off x="4800600" y="2880360"/>
            <a:ext cx="37490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Source diversity</a:t>
            </a:r>
            <a:endParaRPr lang="en-US" sz="2000" dirty="0"/>
          </a:p>
        </p:txBody>
      </p:sp>
      <p:sp>
        <p:nvSpPr>
          <p:cNvPr id="15" name="metric3 label"/>
          <p:cNvSpPr txBox="1"/>
          <p:nvPr/>
        </p:nvSpPr>
        <p:spPr>
          <a:xfrm>
            <a:off x="4800600" y="3525926"/>
            <a:ext cx="3749040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distinct domains / total sources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Citation markers are minted only for sources actually retrieved (covered by an automated test).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Testing and Verification</a:t>
            </a:r>
            <a:endParaRPr lang="en-US" sz="2600" dirty="0"/>
          </a:p>
        </p:txBody>
      </p:sp>
      <p:sp>
        <p:nvSpPr>
          <p:cNvPr id="4" name="test0 card"/>
          <p:cNvSpPr/>
          <p:nvPr/>
        </p:nvSpPr>
        <p:spPr>
          <a:xfrm>
            <a:off x="457200" y="1188720"/>
            <a:ext cx="1965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st0 value"/>
          <p:cNvSpPr txBox="1"/>
          <p:nvPr/>
        </p:nvSpPr>
        <p:spPr>
          <a:xfrm>
            <a:off x="594360" y="1280160"/>
            <a:ext cx="169164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</a:t>
            </a:r>
            <a:endParaRPr lang="en-US" sz="3600" dirty="0"/>
          </a:p>
        </p:txBody>
      </p:sp>
      <p:sp>
        <p:nvSpPr>
          <p:cNvPr id="6" name="test0 label"/>
          <p:cNvSpPr txBox="1"/>
          <p:nvPr/>
        </p:nvSpPr>
        <p:spPr>
          <a:xfrm>
            <a:off x="594360" y="2092147"/>
            <a:ext cx="169164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tests passing, run with pytest</a:t>
            </a:r>
            <a:endParaRPr lang="en-US" sz="1200" dirty="0"/>
          </a:p>
        </p:txBody>
      </p:sp>
      <p:sp>
        <p:nvSpPr>
          <p:cNvPr id="7" name="test1 card"/>
          <p:cNvSpPr/>
          <p:nvPr/>
        </p:nvSpPr>
        <p:spPr>
          <a:xfrm>
            <a:off x="2542032" y="1188720"/>
            <a:ext cx="1965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st1 value"/>
          <p:cNvSpPr txBox="1"/>
          <p:nvPr/>
        </p:nvSpPr>
        <p:spPr>
          <a:xfrm>
            <a:off x="2679192" y="1280160"/>
            <a:ext cx="169164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9" name="test1 label"/>
          <p:cNvSpPr txBox="1"/>
          <p:nvPr/>
        </p:nvSpPr>
        <p:spPr>
          <a:xfrm>
            <a:off x="2679192" y="2092147"/>
            <a:ext cx="169164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search and fetch, incl. refusal of private hosts (SSRF)</a:t>
            </a:r>
            <a:endParaRPr lang="en-US" sz="1200" dirty="0"/>
          </a:p>
        </p:txBody>
      </p:sp>
      <p:sp>
        <p:nvSpPr>
          <p:cNvPr id="10" name="test2 card"/>
          <p:cNvSpPr/>
          <p:nvPr/>
        </p:nvSpPr>
        <p:spPr>
          <a:xfrm>
            <a:off x="4626864" y="1188720"/>
            <a:ext cx="1965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st2 value"/>
          <p:cNvSpPr txBox="1"/>
          <p:nvPr/>
        </p:nvSpPr>
        <p:spPr>
          <a:xfrm>
            <a:off x="4764024" y="1280160"/>
            <a:ext cx="169164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</a:t>
            </a:r>
            <a:endParaRPr lang="en-US" sz="3600" dirty="0"/>
          </a:p>
        </p:txBody>
      </p:sp>
      <p:sp>
        <p:nvSpPr>
          <p:cNvPr id="12" name="test2 label"/>
          <p:cNvSpPr txBox="1"/>
          <p:nvPr/>
        </p:nvSpPr>
        <p:spPr>
          <a:xfrm>
            <a:off x="4764024" y="2092147"/>
            <a:ext cx="169164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chunking and scoring: authority, not blanket .gov trust, recency</a:t>
            </a:r>
            <a:endParaRPr lang="en-US" sz="1200" dirty="0"/>
          </a:p>
        </p:txBody>
      </p:sp>
      <p:sp>
        <p:nvSpPr>
          <p:cNvPr id="13" name="test3 card"/>
          <p:cNvSpPr/>
          <p:nvPr/>
        </p:nvSpPr>
        <p:spPr>
          <a:xfrm>
            <a:off x="6711696" y="1188720"/>
            <a:ext cx="1965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st3 value"/>
          <p:cNvSpPr txBox="1"/>
          <p:nvPr/>
        </p:nvSpPr>
        <p:spPr>
          <a:xfrm>
            <a:off x="6848856" y="1280160"/>
            <a:ext cx="169164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15" name="test3 label"/>
          <p:cNvSpPr txBox="1"/>
          <p:nvPr/>
        </p:nvSpPr>
        <p:spPr>
          <a:xfrm>
            <a:off x="6848856" y="2092147"/>
            <a:ext cx="169164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end-to-end pipeline and citation integrity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Evaluation set: 5 sample research questions with expected topics and key facts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 /api/evaluate runs them through the real pipeline and aggregates the metrics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Retrieval hit rate is reported as null without labeled ground truth, never invented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Tech Stack and Provider Design</a:t>
            </a:r>
            <a:endParaRPr lang="en-US" sz="2600" dirty="0"/>
          </a:p>
        </p:txBody>
      </p:sp>
      <p:sp>
        <p:nvSpPr>
          <p:cNvPr id="4" name="stack0 card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ck0 value"/>
          <p:cNvSpPr txBox="1"/>
          <p:nvPr/>
        </p:nvSpPr>
        <p:spPr>
          <a:xfrm>
            <a:off x="594360" y="128016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Backend</a:t>
            </a:r>
            <a:endParaRPr lang="en-US" sz="2000" dirty="0"/>
          </a:p>
        </p:txBody>
      </p:sp>
      <p:sp>
        <p:nvSpPr>
          <p:cNvPr id="6" name="stack0 label"/>
          <p:cNvSpPr txBox="1"/>
          <p:nvPr/>
        </p:nvSpPr>
        <p:spPr>
          <a:xfrm>
            <a:off x="594360" y="1997050"/>
            <a:ext cx="23774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FastAPI, LangGraph, SQLite, Server-Sent Events</a:t>
            </a:r>
            <a:endParaRPr lang="en-US" sz="1200" dirty="0"/>
          </a:p>
        </p:txBody>
      </p:sp>
      <p:sp>
        <p:nvSpPr>
          <p:cNvPr id="7" name="stack1 card"/>
          <p:cNvSpPr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ck1 value"/>
          <p:cNvSpPr txBox="1"/>
          <p:nvPr/>
        </p:nvSpPr>
        <p:spPr>
          <a:xfrm>
            <a:off x="3383280" y="128016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Frontend</a:t>
            </a:r>
            <a:endParaRPr lang="en-US" sz="2000" dirty="0"/>
          </a:p>
        </p:txBody>
      </p:sp>
      <p:sp>
        <p:nvSpPr>
          <p:cNvPr id="9" name="stack1 label"/>
          <p:cNvSpPr txBox="1"/>
          <p:nvPr/>
        </p:nvSpPr>
        <p:spPr>
          <a:xfrm>
            <a:off x="3383280" y="1997050"/>
            <a:ext cx="23774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Next.js 14, TypeScript, live agent timeline, tabbed dashboard</a:t>
            </a:r>
            <a:endParaRPr lang="en-US" sz="1200" dirty="0"/>
          </a:p>
        </p:txBody>
      </p:sp>
      <p:sp>
        <p:nvSpPr>
          <p:cNvPr id="10" name="stack2 card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ck2 value"/>
          <p:cNvSpPr txBox="1"/>
          <p:nvPr/>
        </p:nvSpPr>
        <p:spPr>
          <a:xfrm>
            <a:off x="6172200" y="128016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LLM</a:t>
            </a:r>
            <a:endParaRPr lang="en-US" sz="2000" dirty="0"/>
          </a:p>
        </p:txBody>
      </p:sp>
      <p:sp>
        <p:nvSpPr>
          <p:cNvPr id="12" name="stack2 label"/>
          <p:cNvSpPr txBox="1"/>
          <p:nvPr/>
        </p:nvSpPr>
        <p:spPr>
          <a:xfrm>
            <a:off x="6172200" y="1997050"/>
            <a:ext cx="23774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Ollama (qwen2.5:7b), OpenRouter, or offline</a:t>
            </a:r>
            <a:endParaRPr lang="en-US" sz="1200" dirty="0"/>
          </a:p>
        </p:txBody>
      </p:sp>
      <p:sp>
        <p:nvSpPr>
          <p:cNvPr id="13" name="stack3 card"/>
          <p:cNvSpPr/>
          <p:nvPr/>
        </p:nvSpPr>
        <p:spPr>
          <a:xfrm>
            <a:off x="45720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ack3 value"/>
          <p:cNvSpPr txBox="1"/>
          <p:nvPr/>
        </p:nvSpPr>
        <p:spPr>
          <a:xfrm>
            <a:off x="594360" y="297180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Search</a:t>
            </a:r>
            <a:endParaRPr lang="en-US" sz="2000" dirty="0"/>
          </a:p>
        </p:txBody>
      </p:sp>
      <p:sp>
        <p:nvSpPr>
          <p:cNvPr id="15" name="stack3 label"/>
          <p:cNvSpPr txBox="1"/>
          <p:nvPr/>
        </p:nvSpPr>
        <p:spPr>
          <a:xfrm>
            <a:off x="594360" y="3688690"/>
            <a:ext cx="23774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Tavily, Brave, DuckDuckGo, or offline</a:t>
            </a:r>
            <a:endParaRPr lang="en-US" sz="1200" dirty="0"/>
          </a:p>
        </p:txBody>
      </p:sp>
      <p:sp>
        <p:nvSpPr>
          <p:cNvPr id="16" name="stack4 card"/>
          <p:cNvSpPr/>
          <p:nvPr/>
        </p:nvSpPr>
        <p:spPr>
          <a:xfrm>
            <a:off x="324612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ack4 value"/>
          <p:cNvSpPr txBox="1"/>
          <p:nvPr/>
        </p:nvSpPr>
        <p:spPr>
          <a:xfrm>
            <a:off x="3383280" y="297180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Retrieval</a:t>
            </a:r>
            <a:endParaRPr lang="en-US" sz="2000" dirty="0"/>
          </a:p>
        </p:txBody>
      </p:sp>
      <p:sp>
        <p:nvSpPr>
          <p:cNvPr id="18" name="stack4 label"/>
          <p:cNvSpPr txBox="1"/>
          <p:nvPr/>
        </p:nvSpPr>
        <p:spPr>
          <a:xfrm>
            <a:off x="3383280" y="3688690"/>
            <a:ext cx="23774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Chunking + TF-IDF cosine ranking (dense embeddings optional)</a:t>
            </a:r>
            <a:endParaRPr lang="en-US" sz="1200" dirty="0"/>
          </a:p>
        </p:txBody>
      </p:sp>
      <p:sp>
        <p:nvSpPr>
          <p:cNvPr id="19" name="stack5 card"/>
          <p:cNvSpPr/>
          <p:nvPr/>
        </p:nvSpPr>
        <p:spPr>
          <a:xfrm>
            <a:off x="603504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ack5 value"/>
          <p:cNvSpPr txBox="1"/>
          <p:nvPr/>
        </p:nvSpPr>
        <p:spPr>
          <a:xfrm>
            <a:off x="6172200" y="297180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Delivery</a:t>
            </a:r>
            <a:endParaRPr lang="en-US" sz="2000" dirty="0"/>
          </a:p>
        </p:txBody>
      </p:sp>
      <p:sp>
        <p:nvSpPr>
          <p:cNvPr id="21" name="stack5 label"/>
          <p:cNvSpPr txBox="1"/>
          <p:nvPr/>
        </p:nvSpPr>
        <p:spPr>
          <a:xfrm>
            <a:off x="6172200" y="3688690"/>
            <a:ext cx="23774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Compose; Markdown and JSON export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Live Workflow and Safety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Streaming and traceability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459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POST /api/research/stream emits session_started, agent_step, state_snapshot, research_complete, 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tool call logged with timing, input/output summary and status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Dashboard tabs: Report, Sources, Comparison, Evaluation, Trace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Safety and reliability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6459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SSRF-guarded page fetch refuses private hosts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Fact checker rejects unsupported or overstated claims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Search and page retrieval run concurrently, with bounded simultaneous model calls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Sessions saved to SQLite; export as Markdown or JSON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Limitations and Future Work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Current limits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459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Offline demo corpus is small (10 documents)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TF-IDF retrieval, not dense embeddings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PDF export or user accounts yet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64592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Sentence-transformer embeddings with FAISS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PDF report export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Supabase authentication and multi-user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Larger evaluation set with labeled ground truth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Thank you. Questions?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Pilot">
  <a:themeElements>
    <a:clrScheme name="ResearchPilot">
      <a:dk1>
        <a:srgbClr val="1A1745"/>
      </a:dk1>
      <a:lt1>
        <a:srgbClr val="FFFFFF"/>
      </a:lt1>
      <a:dk2>
        <a:srgbClr val="3D3B63"/>
      </a:dk2>
      <a:lt2>
        <a:srgbClr val="EEEEFA"/>
      </a:lt2>
      <a:accent1>
        <a:srgbClr val="5B4FD6"/>
      </a:accent1>
      <a:accent2>
        <a:srgbClr val="14B8A6"/>
      </a:accent2>
      <a:accent3>
        <a:srgbClr val="C7C2F5"/>
      </a:accent3>
      <a:accent4>
        <a:srgbClr val="F2A541"/>
      </a:accent4>
      <a:accent5>
        <a:srgbClr val="E4572E"/>
      </a:accent5>
      <a:accent6>
        <a:srgbClr val="7C7A9C"/>
      </a:accent6>
      <a:hlink>
        <a:srgbClr val="5B4FD6"/>
      </a:hlink>
      <a:folHlink>
        <a:srgbClr val="7C7A9C"/>
      </a:folHlink>
    </a:clrScheme>
    <a:fontScheme name="ResearchPilo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ResearchPilot AI - Final Term</dc:title>
  <dc:subject>PptxGenJS Presentation</dc:subject>
  <dc:creator>Qaim Ali</dc:creator>
  <cp:lastModifiedBy>Qaim Ali</cp:lastModifiedBy>
  <cp:revision>1</cp:revision>
  <dcterms:created xsi:type="dcterms:W3CDTF">2026-10-02T18:06:53Z</dcterms:created>
  <dcterms:modified xsi:type="dcterms:W3CDTF">2026-10-02T18:06:53Z</dcterms:modified>
</cp:coreProperties>
</file>